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01511-8B91-E6A2-7DC1-CA4D3A6E9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25C740-B1E6-39B9-DD21-C512BCD7A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D731C-09D4-1D05-576E-4095C748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CFEFD9-9A49-775D-0EF5-06023C22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F1DEDE-6970-D6D3-38C4-B3CE9BBC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8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A117-10DA-02B7-295D-2F2A94DB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CC59B-5ADB-BC5E-E0DE-CB571FAF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373F4-BF92-9005-8231-E36DCC3B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41DD7-C7D4-77F9-8ADA-F37632D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F6F3E-ACB4-DE3B-8EDE-4551432D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9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EC764-036F-96D3-C141-B7C53F43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44E23-C60E-BCDC-1B0C-1227AF5E8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D5F32-3479-D320-B48B-B06B2E96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56F997-F508-ABFD-A16F-B1C8E708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02E67-D528-F368-90CA-C3995476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71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FC1BC-9342-FE76-E740-F4E139E0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D47DA-916B-65C4-583E-90FA33B1C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B47A74-A05A-58D9-49A3-C8F1D21E0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1C701D-A372-852D-0B86-32A2A97C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BB848-2C8A-CF75-2880-E3E7A71D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C4ABC7-8ACD-6FB3-A3F7-A67D662E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267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E35E7-8045-248F-9CA3-10F65EE5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9B1125-F21F-EAA0-1FB4-C8BAC560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A08A47-8E5D-36FB-24A0-E54C5EE8D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FF9148-C88A-D507-54CC-A68ABC8EF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D66D81-AAF7-7EC2-293B-ACFB30E6E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6E3E13-C643-8B89-D62E-2675A88E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5C64F6-5BDA-C9B7-6F98-F589EF4F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767918-7EE6-3273-D060-846F62DA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30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55828-8358-1DED-35AB-41B75D13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B80B76-445E-CAAC-14CA-6900907D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223721-97E6-AEF4-B211-6FCF43BC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1AF9E3-F279-82C5-796B-50027312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2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79C86A-9559-7E15-D610-45A0876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7C5B0B-BA89-9073-D718-D54EFE69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8DC00-4201-CD2A-4BE8-26A94261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42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4515E-19F3-79BF-2E9A-325F360D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FAA13F-36C9-311B-1A19-EAF2DC6C5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1FD2E-3FF6-BD10-0308-F59D30804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6E574-A291-60CC-EA6D-1DBCBA4C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9B5987-C22D-58E1-1227-F6FB403C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84AEA7-2F20-E6BE-4BF7-FB064084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52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17FF3-A732-C2B4-CCE6-0A942985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9A36F8-CC62-6FD8-58C9-E90BE1487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F06FE8-0D3D-9E0D-3F38-5AE83576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D2D351-44AE-2AF9-0D1C-5584695E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F314FC-091E-BA0E-0D1B-A317CF41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2D4C47-8CE2-9992-F143-631085E0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62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27317-E52A-DCE9-D662-473DAE5B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55DF36-2168-5A72-3163-91DF45FEF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68B25A-CC4B-9990-7E89-C8A47377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7EE111-7871-16B9-7685-4B7F4E70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0C4C2D-3147-1974-81DB-64F56810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5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645A55-A7FA-5136-88C8-4DAB8B53D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406EFC-8338-E52A-17D4-6B2EBAF65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3DE59-0843-4702-FD64-905BE4BB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73F2B-C097-FCB0-E64B-BBD4684B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6467E-02B0-FF26-8DFB-7D79A63D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69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FDDE5-8D03-53CA-8A74-3BFEBC50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C787E4-6FF3-83B5-7E76-5550A3AD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E4BA8-F65A-7775-1371-BE535B13F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FD180-510F-4A61-AEB6-7BC7C828DE09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589C4-9450-08C1-18D8-F7F16C804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3531F-D727-9F71-26C8-F6382784C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AA23C-667A-48DB-919D-0E4D28E08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27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944F7-DEDF-DD04-94E8-4DC58B67A8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역사자료부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DB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자료 이관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932362-182E-5667-7EA6-1F9832EF6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(MS-</a:t>
            </a:r>
            <a:r>
              <a:rPr lang="en-US" altLang="ko-KR" dirty="0" err="1"/>
              <a:t>sql</a:t>
            </a:r>
            <a:r>
              <a:rPr lang="en-US" altLang="ko-KR" dirty="0"/>
              <a:t> to Maria-DB)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622F2-4181-80E8-9C9B-DEE2BE34AC6F}"/>
              </a:ext>
            </a:extLst>
          </p:cNvPr>
          <p:cNvSpPr txBox="1"/>
          <p:nvPr/>
        </p:nvSpPr>
        <p:spPr>
          <a:xfrm>
            <a:off x="8979408" y="1207008"/>
            <a:ext cx="218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Rev. 1.1 (2025.5.16)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25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C023D19-777B-7D71-83A6-B6A590D78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333500"/>
            <a:ext cx="10972800" cy="55245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C571E3F0-A476-D3DC-3276-0ACAF70A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기존 </a:t>
            </a:r>
            <a:r>
              <a:rPr lang="en-US" altLang="ko-KR" sz="3600" dirty="0"/>
              <a:t>DB</a:t>
            </a:r>
            <a:r>
              <a:rPr lang="ko-KR" altLang="en-US" sz="3600" dirty="0"/>
              <a:t>자료 등록화면</a:t>
            </a:r>
          </a:p>
        </p:txBody>
      </p:sp>
    </p:spTree>
    <p:extLst>
      <p:ext uri="{BB962C8B-B14F-4D97-AF65-F5344CB8AC3E}">
        <p14:creationId xmlns:p14="http://schemas.microsoft.com/office/powerpoint/2010/main" val="385796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C47C56F-ACF6-DEEE-E727-6251FAB0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목록</a:t>
            </a:r>
            <a:r>
              <a:rPr lang="en-US" altLang="ko-KR" sz="3600" dirty="0"/>
              <a:t>/</a:t>
            </a:r>
            <a:r>
              <a:rPr lang="ko-KR" altLang="en-US" sz="3600" dirty="0"/>
              <a:t>검색 화면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D58AEAF-DFD3-BD96-4ADD-DE3937990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75973"/>
              </p:ext>
            </p:extLst>
          </p:nvPr>
        </p:nvGraphicFramePr>
        <p:xfrm>
          <a:off x="838200" y="4249082"/>
          <a:ext cx="10766900" cy="2017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44">
                  <a:extLst>
                    <a:ext uri="{9D8B030D-6E8A-4147-A177-3AD203B41FA5}">
                      <a16:colId xmlns:a16="http://schemas.microsoft.com/office/drawing/2014/main" val="105078953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35754068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820398738"/>
                    </a:ext>
                  </a:extLst>
                </a:gridCol>
                <a:gridCol w="1503012">
                  <a:extLst>
                    <a:ext uri="{9D8B030D-6E8A-4147-A177-3AD203B41FA5}">
                      <a16:colId xmlns:a16="http://schemas.microsoft.com/office/drawing/2014/main" val="1654147181"/>
                    </a:ext>
                  </a:extLst>
                </a:gridCol>
                <a:gridCol w="1584605">
                  <a:extLst>
                    <a:ext uri="{9D8B030D-6E8A-4147-A177-3AD203B41FA5}">
                      <a16:colId xmlns:a16="http://schemas.microsoft.com/office/drawing/2014/main" val="87530724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796579938"/>
                    </a:ext>
                  </a:extLst>
                </a:gridCol>
                <a:gridCol w="1427828">
                  <a:extLst>
                    <a:ext uri="{9D8B030D-6E8A-4147-A177-3AD203B41FA5}">
                      <a16:colId xmlns:a16="http://schemas.microsoft.com/office/drawing/2014/main" val="4122549190"/>
                    </a:ext>
                  </a:extLst>
                </a:gridCol>
              </a:tblGrid>
              <a:tr h="302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자료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소관 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기준일자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공개여부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자료분류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자료성격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55586"/>
                  </a:ext>
                </a:extLst>
              </a:tr>
              <a:tr h="302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기본 </a:t>
                      </a:r>
                      <a:r>
                        <a:rPr lang="en-US" altLang="ko-KR" dirty="0"/>
                        <a:t>Order by)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33355"/>
                  </a:ext>
                </a:extLst>
              </a:tr>
              <a:tr h="302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595676"/>
                  </a:ext>
                </a:extLst>
              </a:tr>
              <a:tr h="302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877442"/>
                  </a:ext>
                </a:extLst>
              </a:tr>
              <a:tr h="554441">
                <a:tc gridSpan="7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771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709430D-AFC5-80A5-6D34-0422E4B2D321}"/>
              </a:ext>
            </a:extLst>
          </p:cNvPr>
          <p:cNvSpPr txBox="1"/>
          <p:nvPr/>
        </p:nvSpPr>
        <p:spPr>
          <a:xfrm>
            <a:off x="3128679" y="5796065"/>
            <a:ext cx="656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처음    이전      </a:t>
            </a:r>
            <a:r>
              <a:rPr lang="en-US" altLang="ko-KR" dirty="0"/>
              <a:t>1  2  3  4  5  6  …   9999     </a:t>
            </a:r>
            <a:r>
              <a:rPr lang="ko-KR" altLang="en-US" dirty="0"/>
              <a:t>다음     마지막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EA9A0ED-3546-65FB-0589-8C688EA03CFE}"/>
              </a:ext>
            </a:extLst>
          </p:cNvPr>
          <p:cNvSpPr/>
          <p:nvPr/>
        </p:nvSpPr>
        <p:spPr>
          <a:xfrm>
            <a:off x="908049" y="1469635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 단어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982A682-58C4-11C8-9FD2-31586D0BC5C9}"/>
              </a:ext>
            </a:extLst>
          </p:cNvPr>
          <p:cNvSpPr/>
          <p:nvPr/>
        </p:nvSpPr>
        <p:spPr>
          <a:xfrm>
            <a:off x="2860695" y="1468994"/>
            <a:ext cx="3766281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Varchar(1024)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8E58375-361A-3C03-5951-9E7C3376A4E8}"/>
              </a:ext>
            </a:extLst>
          </p:cNvPr>
          <p:cNvSpPr/>
          <p:nvPr/>
        </p:nvSpPr>
        <p:spPr>
          <a:xfrm>
            <a:off x="6096000" y="2967099"/>
            <a:ext cx="1297006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기준일자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7316060-8900-3137-DD2F-B8824C3F39C8}"/>
              </a:ext>
            </a:extLst>
          </p:cNvPr>
          <p:cNvSpPr/>
          <p:nvPr/>
        </p:nvSpPr>
        <p:spPr>
          <a:xfrm>
            <a:off x="7495010" y="2948255"/>
            <a:ext cx="1243692" cy="5467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yyyy</a:t>
            </a:r>
            <a:r>
              <a:rPr lang="en-US" altLang="ko-KR" dirty="0">
                <a:solidFill>
                  <a:schemeClr val="tx1"/>
                </a:solidFill>
              </a:rPr>
              <a:t>/mm/dd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FF8EB56-2022-4CD4-E517-B0CDA8ABA8CD}"/>
              </a:ext>
            </a:extLst>
          </p:cNvPr>
          <p:cNvSpPr/>
          <p:nvPr/>
        </p:nvSpPr>
        <p:spPr>
          <a:xfrm>
            <a:off x="908049" y="2307351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공개 여부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9664BC4-BE3F-5B33-9134-3B321354C2EC}"/>
              </a:ext>
            </a:extLst>
          </p:cNvPr>
          <p:cNvSpPr/>
          <p:nvPr/>
        </p:nvSpPr>
        <p:spPr>
          <a:xfrm>
            <a:off x="2901752" y="2307350"/>
            <a:ext cx="3725223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    </a:t>
            </a:r>
            <a:r>
              <a:rPr lang="ko-KR" altLang="en-US" dirty="0">
                <a:solidFill>
                  <a:schemeClr val="tx1"/>
                </a:solidFill>
              </a:rPr>
              <a:t>비공개      공개 </a:t>
            </a:r>
            <a:r>
              <a:rPr lang="en-US" altLang="ko-KR" dirty="0">
                <a:solidFill>
                  <a:schemeClr val="tx1"/>
                </a:solidFill>
              </a:rPr>
              <a:t>(Radio)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B1994D3-FC84-98AF-5461-94F54BF03F3A}"/>
              </a:ext>
            </a:extLst>
          </p:cNvPr>
          <p:cNvSpPr/>
          <p:nvPr/>
        </p:nvSpPr>
        <p:spPr>
          <a:xfrm>
            <a:off x="3009617" y="2451890"/>
            <a:ext cx="238125" cy="247650"/>
          </a:xfrm>
          <a:prstGeom prst="ellipse">
            <a:avLst/>
          </a:prstGeom>
          <a:noFill/>
          <a:ln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DF17862-C03E-C126-C96D-2A44B2576DB2}"/>
              </a:ext>
            </a:extLst>
          </p:cNvPr>
          <p:cNvSpPr/>
          <p:nvPr/>
        </p:nvSpPr>
        <p:spPr>
          <a:xfrm>
            <a:off x="4188510" y="2451890"/>
            <a:ext cx="238125" cy="247650"/>
          </a:xfrm>
          <a:prstGeom prst="ellipse">
            <a:avLst/>
          </a:prstGeom>
          <a:noFill/>
          <a:ln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CAF365C-8079-7D27-2BFA-CE6472E63F5B}"/>
              </a:ext>
            </a:extLst>
          </p:cNvPr>
          <p:cNvSpPr/>
          <p:nvPr/>
        </p:nvSpPr>
        <p:spPr>
          <a:xfrm>
            <a:off x="9602556" y="2915910"/>
            <a:ext cx="1243692" cy="5467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yyyy</a:t>
            </a:r>
            <a:r>
              <a:rPr lang="en-US" altLang="ko-KR" dirty="0">
                <a:solidFill>
                  <a:schemeClr val="tx1"/>
                </a:solidFill>
              </a:rPr>
              <a:t>/mm/dd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D36D55-C036-848F-740A-6EA6D43299D9}"/>
              </a:ext>
            </a:extLst>
          </p:cNvPr>
          <p:cNvSpPr txBox="1"/>
          <p:nvPr/>
        </p:nvSpPr>
        <p:spPr>
          <a:xfrm>
            <a:off x="9324919" y="306325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A6C9957-D5E9-05E7-1785-85C712197F1C}"/>
              </a:ext>
            </a:extLst>
          </p:cNvPr>
          <p:cNvSpPr/>
          <p:nvPr/>
        </p:nvSpPr>
        <p:spPr>
          <a:xfrm>
            <a:off x="6786152" y="2311009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분류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0ADAABD-0F74-BBC5-F36A-2372803B2E9A}"/>
              </a:ext>
            </a:extLst>
          </p:cNvPr>
          <p:cNvSpPr/>
          <p:nvPr/>
        </p:nvSpPr>
        <p:spPr>
          <a:xfrm>
            <a:off x="6757314" y="1472691"/>
            <a:ext cx="4726824" cy="54675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   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05D838-2AC0-167A-AF90-33C863448C1E}"/>
              </a:ext>
            </a:extLst>
          </p:cNvPr>
          <p:cNvSpPr txBox="1"/>
          <p:nvPr/>
        </p:nvSpPr>
        <p:spPr>
          <a:xfrm>
            <a:off x="9956612" y="3884191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</a:t>
            </a:r>
            <a:r>
              <a:rPr lang="en-US" altLang="ko-KR" dirty="0"/>
              <a:t>: 1,234</a:t>
            </a:r>
            <a:r>
              <a:rPr lang="ko-KR" altLang="en-US" dirty="0"/>
              <a:t>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266702-C5D1-914E-DD1A-289E2DE24E8A}"/>
              </a:ext>
            </a:extLst>
          </p:cNvPr>
          <p:cNvSpPr/>
          <p:nvPr/>
        </p:nvSpPr>
        <p:spPr>
          <a:xfrm>
            <a:off x="10510044" y="886794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17285E6-8663-E16A-194F-CEDB524080DB}"/>
              </a:ext>
            </a:extLst>
          </p:cNvPr>
          <p:cNvSpPr/>
          <p:nvPr/>
        </p:nvSpPr>
        <p:spPr>
          <a:xfrm>
            <a:off x="9409596" y="877269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870B313-A12F-BF6A-1A94-9A696DD53735}"/>
              </a:ext>
            </a:extLst>
          </p:cNvPr>
          <p:cNvSpPr/>
          <p:nvPr/>
        </p:nvSpPr>
        <p:spPr>
          <a:xfrm>
            <a:off x="10510044" y="6328069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690D535-7F66-57D1-69A7-8FE573E43152}"/>
              </a:ext>
            </a:extLst>
          </p:cNvPr>
          <p:cNvSpPr/>
          <p:nvPr/>
        </p:nvSpPr>
        <p:spPr>
          <a:xfrm>
            <a:off x="9409596" y="6318544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E9B7A57-CBE4-09F0-3737-7D5F54C221A8}"/>
              </a:ext>
            </a:extLst>
          </p:cNvPr>
          <p:cNvSpPr/>
          <p:nvPr/>
        </p:nvSpPr>
        <p:spPr>
          <a:xfrm>
            <a:off x="908049" y="2983102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성격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A5BDE0E-023E-CCAC-0402-ECEE15AA0D00}"/>
              </a:ext>
            </a:extLst>
          </p:cNvPr>
          <p:cNvSpPr/>
          <p:nvPr/>
        </p:nvSpPr>
        <p:spPr>
          <a:xfrm>
            <a:off x="2890133" y="2964244"/>
            <a:ext cx="3084905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예배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설교</a:t>
            </a:r>
            <a:r>
              <a:rPr lang="en-US" altLang="ko-KR" dirty="0">
                <a:solidFill>
                  <a:schemeClr val="tx1"/>
                </a:solidFill>
              </a:rPr>
              <a:t>(Select Box)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C3AF9F7F-029D-5E6D-89A4-C8A405910DCB}"/>
              </a:ext>
            </a:extLst>
          </p:cNvPr>
          <p:cNvSpPr/>
          <p:nvPr/>
        </p:nvSpPr>
        <p:spPr>
          <a:xfrm>
            <a:off x="3345083" y="4309686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765FF695-E781-25FE-D5EF-AA395707E734}"/>
              </a:ext>
            </a:extLst>
          </p:cNvPr>
          <p:cNvSpPr/>
          <p:nvPr/>
        </p:nvSpPr>
        <p:spPr>
          <a:xfrm rot="10800000">
            <a:off x="3523941" y="4340535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9285DA63-5135-7FA0-DB7A-A2589E6FA7E7}"/>
              </a:ext>
            </a:extLst>
          </p:cNvPr>
          <p:cNvSpPr/>
          <p:nvPr/>
        </p:nvSpPr>
        <p:spPr>
          <a:xfrm>
            <a:off x="5040453" y="431921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E5BA1C49-CFE9-2EEC-0AEC-8998FA3E2FBD}"/>
              </a:ext>
            </a:extLst>
          </p:cNvPr>
          <p:cNvSpPr/>
          <p:nvPr/>
        </p:nvSpPr>
        <p:spPr>
          <a:xfrm rot="10800000">
            <a:off x="5195337" y="434053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B98132F6-5201-D07F-07B7-80D502D400BF}"/>
              </a:ext>
            </a:extLst>
          </p:cNvPr>
          <p:cNvSpPr/>
          <p:nvPr/>
        </p:nvSpPr>
        <p:spPr>
          <a:xfrm>
            <a:off x="6524994" y="4307222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C954AC23-A899-1E7A-12E3-697C68945C9E}"/>
              </a:ext>
            </a:extLst>
          </p:cNvPr>
          <p:cNvSpPr/>
          <p:nvPr/>
        </p:nvSpPr>
        <p:spPr>
          <a:xfrm rot="10800000">
            <a:off x="6679878" y="4328542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DCE7B92F-7F03-58F0-9152-B4E523D21D1A}"/>
              </a:ext>
            </a:extLst>
          </p:cNvPr>
          <p:cNvSpPr/>
          <p:nvPr/>
        </p:nvSpPr>
        <p:spPr>
          <a:xfrm>
            <a:off x="8164397" y="429789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9A61D84A-3F2B-80BD-852A-606207E524A1}"/>
              </a:ext>
            </a:extLst>
          </p:cNvPr>
          <p:cNvSpPr/>
          <p:nvPr/>
        </p:nvSpPr>
        <p:spPr>
          <a:xfrm rot="10800000">
            <a:off x="8319281" y="431921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E41AF69F-48C3-BCEF-5A52-3C6F88957984}"/>
              </a:ext>
            </a:extLst>
          </p:cNvPr>
          <p:cNvSpPr/>
          <p:nvPr/>
        </p:nvSpPr>
        <p:spPr>
          <a:xfrm>
            <a:off x="9752470" y="431921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06E12CFE-A8B2-B750-58CB-0B3F052984B7}"/>
              </a:ext>
            </a:extLst>
          </p:cNvPr>
          <p:cNvSpPr/>
          <p:nvPr/>
        </p:nvSpPr>
        <p:spPr>
          <a:xfrm rot="10800000">
            <a:off x="9907354" y="434053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8534EB0-8C04-326E-FEEF-47062BE8D381}"/>
              </a:ext>
            </a:extLst>
          </p:cNvPr>
          <p:cNvSpPr/>
          <p:nvPr/>
        </p:nvSpPr>
        <p:spPr>
          <a:xfrm>
            <a:off x="8798580" y="2948255"/>
            <a:ext cx="574164" cy="51180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달력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3816A-DFEE-BE93-8639-62F011DFCDB6}"/>
              </a:ext>
            </a:extLst>
          </p:cNvPr>
          <p:cNvSpPr/>
          <p:nvPr/>
        </p:nvSpPr>
        <p:spPr>
          <a:xfrm>
            <a:off x="10909974" y="2920785"/>
            <a:ext cx="574164" cy="51180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달력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B70D64-9C49-88B6-2EEB-73D44690C392}"/>
              </a:ext>
            </a:extLst>
          </p:cNvPr>
          <p:cNvSpPr/>
          <p:nvPr/>
        </p:nvSpPr>
        <p:spPr>
          <a:xfrm>
            <a:off x="838201" y="2158995"/>
            <a:ext cx="10766898" cy="171567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A91FCC-A242-2B09-E145-DEF39A623C78}"/>
              </a:ext>
            </a:extLst>
          </p:cNvPr>
          <p:cNvSpPr txBox="1"/>
          <p:nvPr/>
        </p:nvSpPr>
        <p:spPr>
          <a:xfrm>
            <a:off x="3494798" y="3511519"/>
            <a:ext cx="522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일반 사용자 검색 시 붉은색 항목 및 비공개 제외</a:t>
            </a: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0DEC34FE-9D1D-AC12-24D0-62E7A9D313CA}"/>
              </a:ext>
            </a:extLst>
          </p:cNvPr>
          <p:cNvSpPr/>
          <p:nvPr/>
        </p:nvSpPr>
        <p:spPr>
          <a:xfrm rot="10800000">
            <a:off x="5505835" y="3151091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D3A5C8-FD4F-9126-816E-1021A543F808}"/>
              </a:ext>
            </a:extLst>
          </p:cNvPr>
          <p:cNvSpPr/>
          <p:nvPr/>
        </p:nvSpPr>
        <p:spPr>
          <a:xfrm>
            <a:off x="9324919" y="824770"/>
            <a:ext cx="1121948" cy="546755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F0E7D11-8D14-A91E-A947-6AD8B9A4CBF2}"/>
              </a:ext>
            </a:extLst>
          </p:cNvPr>
          <p:cNvSpPr/>
          <p:nvPr/>
        </p:nvSpPr>
        <p:spPr>
          <a:xfrm>
            <a:off x="9335669" y="6266574"/>
            <a:ext cx="1121948" cy="546755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2CF7C03-7289-39F1-4F0A-B3363CCE066B}"/>
              </a:ext>
            </a:extLst>
          </p:cNvPr>
          <p:cNvSpPr/>
          <p:nvPr/>
        </p:nvSpPr>
        <p:spPr>
          <a:xfrm>
            <a:off x="8738702" y="2302407"/>
            <a:ext cx="2745436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문서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출판물</a:t>
            </a:r>
            <a:r>
              <a:rPr lang="en-US" altLang="ko-KR" dirty="0">
                <a:solidFill>
                  <a:schemeClr val="tx1"/>
                </a:solidFill>
              </a:rPr>
              <a:t>(Select)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6CB445B0-A04F-8B25-B568-D899695BC552}"/>
              </a:ext>
            </a:extLst>
          </p:cNvPr>
          <p:cNvSpPr/>
          <p:nvPr/>
        </p:nvSpPr>
        <p:spPr>
          <a:xfrm rot="10800000">
            <a:off x="11145937" y="2470204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CA11B330-46D0-0471-2BCD-C279666EAB2D}"/>
              </a:ext>
            </a:extLst>
          </p:cNvPr>
          <p:cNvSpPr/>
          <p:nvPr/>
        </p:nvSpPr>
        <p:spPr>
          <a:xfrm>
            <a:off x="11201967" y="4322445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B793C4DD-4E5E-92D9-521C-E7404609DBEC}"/>
              </a:ext>
            </a:extLst>
          </p:cNvPr>
          <p:cNvSpPr/>
          <p:nvPr/>
        </p:nvSpPr>
        <p:spPr>
          <a:xfrm rot="10800000">
            <a:off x="11356851" y="4343765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DDA405A1-673B-EE60-9DC4-1B44FA4AEFBA}"/>
              </a:ext>
            </a:extLst>
          </p:cNvPr>
          <p:cNvSpPr/>
          <p:nvPr/>
        </p:nvSpPr>
        <p:spPr>
          <a:xfrm>
            <a:off x="4270248" y="2542032"/>
            <a:ext cx="82296" cy="822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40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BE7E0-03CB-076B-758E-BBCE28D2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조회</a:t>
            </a:r>
            <a:r>
              <a:rPr lang="en-US" altLang="ko-KR" sz="3600" dirty="0"/>
              <a:t>/</a:t>
            </a:r>
            <a:r>
              <a:rPr lang="ko-KR" altLang="en-US" sz="3600" dirty="0"/>
              <a:t>등록</a:t>
            </a:r>
            <a:r>
              <a:rPr lang="en-US" altLang="ko-KR" sz="3600" dirty="0"/>
              <a:t>/</a:t>
            </a:r>
            <a:r>
              <a:rPr lang="ko-KR" altLang="en-US" sz="3600" dirty="0"/>
              <a:t>수정 화면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2491F8-90FC-601B-801E-6A49FBEB6F73}"/>
              </a:ext>
            </a:extLst>
          </p:cNvPr>
          <p:cNvSpPr/>
          <p:nvPr/>
        </p:nvSpPr>
        <p:spPr>
          <a:xfrm>
            <a:off x="961534" y="1489435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AC9606-71BF-9D0A-40BE-191C17F0E920}"/>
              </a:ext>
            </a:extLst>
          </p:cNvPr>
          <p:cNvSpPr/>
          <p:nvPr/>
        </p:nvSpPr>
        <p:spPr>
          <a:xfrm>
            <a:off x="2932522" y="1489434"/>
            <a:ext cx="8605101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Varchar(2048)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670F20-6382-403F-F6A2-B9A2292A0E7C}"/>
              </a:ext>
            </a:extLst>
          </p:cNvPr>
          <p:cNvSpPr/>
          <p:nvPr/>
        </p:nvSpPr>
        <p:spPr>
          <a:xfrm>
            <a:off x="963103" y="2188588"/>
            <a:ext cx="1847654" cy="191207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내용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A7A540-D4B2-9016-BC25-FD5640F08661}"/>
              </a:ext>
            </a:extLst>
          </p:cNvPr>
          <p:cNvSpPr/>
          <p:nvPr/>
        </p:nvSpPr>
        <p:spPr>
          <a:xfrm>
            <a:off x="2932522" y="2188586"/>
            <a:ext cx="8605101" cy="19120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Memo (Web </a:t>
            </a:r>
            <a:r>
              <a:rPr lang="en-US" altLang="ko-KR" dirty="0" err="1">
                <a:solidFill>
                  <a:schemeClr val="tx1"/>
                </a:solidFill>
              </a:rPr>
              <a:t>Editer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7F1554-8C34-675B-06AE-5917C333E06B}"/>
              </a:ext>
            </a:extLst>
          </p:cNvPr>
          <p:cNvSpPr/>
          <p:nvPr/>
        </p:nvSpPr>
        <p:spPr>
          <a:xfrm>
            <a:off x="961533" y="5631379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성격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3B8BEF-F1C6-75DB-2302-FAC0201967BE}"/>
              </a:ext>
            </a:extLst>
          </p:cNvPr>
          <p:cNvSpPr/>
          <p:nvPr/>
        </p:nvSpPr>
        <p:spPr>
          <a:xfrm>
            <a:off x="961533" y="4213659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부서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36E8FB3-4B2A-464A-FC57-BB5DD0D3F67F}"/>
              </a:ext>
            </a:extLst>
          </p:cNvPr>
          <p:cNvSpPr/>
          <p:nvPr/>
        </p:nvSpPr>
        <p:spPr>
          <a:xfrm>
            <a:off x="2932522" y="4213658"/>
            <a:ext cx="8603527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Varchar(2048)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B44C298-F971-7742-AF75-D15ECAF9FB7E}"/>
              </a:ext>
            </a:extLst>
          </p:cNvPr>
          <p:cNvSpPr/>
          <p:nvPr/>
        </p:nvSpPr>
        <p:spPr>
          <a:xfrm>
            <a:off x="6591320" y="5631379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기준 일자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155318-07E6-D9C6-3E21-2648664CD2D7}"/>
              </a:ext>
            </a:extLst>
          </p:cNvPr>
          <p:cNvSpPr/>
          <p:nvPr/>
        </p:nvSpPr>
        <p:spPr>
          <a:xfrm>
            <a:off x="8562309" y="5631378"/>
            <a:ext cx="2118661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yyyy</a:t>
            </a:r>
            <a:r>
              <a:rPr lang="en-US" altLang="ko-KR" dirty="0">
                <a:solidFill>
                  <a:schemeClr val="tx1"/>
                </a:solidFill>
              </a:rPr>
              <a:t>/mm/dd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754DC8C-FDE7-A2A9-5B4B-98CF204F17D3}"/>
              </a:ext>
            </a:extLst>
          </p:cNvPr>
          <p:cNvSpPr/>
          <p:nvPr/>
        </p:nvSpPr>
        <p:spPr>
          <a:xfrm>
            <a:off x="961533" y="4930336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공개 여부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ED5C64A-7DB4-3014-D280-D866FF4C51E6}"/>
              </a:ext>
            </a:extLst>
          </p:cNvPr>
          <p:cNvSpPr/>
          <p:nvPr/>
        </p:nvSpPr>
        <p:spPr>
          <a:xfrm>
            <a:off x="2932522" y="4930335"/>
            <a:ext cx="2973740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 비공개   </a:t>
            </a:r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ko-KR" altLang="en-US" dirty="0">
                <a:solidFill>
                  <a:schemeClr val="tx1"/>
                </a:solidFill>
              </a:rPr>
              <a:t> 공개</a:t>
            </a:r>
            <a:r>
              <a:rPr lang="en-US" altLang="ko-KR" dirty="0">
                <a:solidFill>
                  <a:schemeClr val="tx1"/>
                </a:solidFill>
              </a:rPr>
              <a:t>(Radio)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3E062E87-4A01-6949-257A-626AA44D0DFE}"/>
              </a:ext>
            </a:extLst>
          </p:cNvPr>
          <p:cNvSpPr/>
          <p:nvPr/>
        </p:nvSpPr>
        <p:spPr>
          <a:xfrm>
            <a:off x="11119898" y="2381250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D21A131B-F38A-7FCB-E842-2E942191B8CC}"/>
              </a:ext>
            </a:extLst>
          </p:cNvPr>
          <p:cNvSpPr/>
          <p:nvPr/>
        </p:nvSpPr>
        <p:spPr>
          <a:xfrm rot="10800000">
            <a:off x="11128344" y="3746023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1C433E-D1D2-09EE-DCE4-08C1DC465789}"/>
              </a:ext>
            </a:extLst>
          </p:cNvPr>
          <p:cNvSpPr/>
          <p:nvPr/>
        </p:nvSpPr>
        <p:spPr>
          <a:xfrm>
            <a:off x="11119897" y="2381250"/>
            <a:ext cx="233903" cy="15838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4C11260-4C86-3A58-33AD-9F0AC3E07F07}"/>
              </a:ext>
            </a:extLst>
          </p:cNvPr>
          <p:cNvSpPr/>
          <p:nvPr/>
        </p:nvSpPr>
        <p:spPr>
          <a:xfrm>
            <a:off x="3085315" y="5079887"/>
            <a:ext cx="238125" cy="247650"/>
          </a:xfrm>
          <a:prstGeom prst="ellipse">
            <a:avLst/>
          </a:prstGeom>
          <a:noFill/>
          <a:ln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3A9E641-D56A-258E-D80A-1B2B225F4AE5}"/>
              </a:ext>
            </a:extLst>
          </p:cNvPr>
          <p:cNvSpPr/>
          <p:nvPr/>
        </p:nvSpPr>
        <p:spPr>
          <a:xfrm>
            <a:off x="4257663" y="5079887"/>
            <a:ext cx="238125" cy="247650"/>
          </a:xfrm>
          <a:prstGeom prst="ellipse">
            <a:avLst/>
          </a:prstGeom>
          <a:noFill/>
          <a:ln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6FA59E3-EA02-34F9-786D-A626009A57D2}"/>
              </a:ext>
            </a:extLst>
          </p:cNvPr>
          <p:cNvSpPr/>
          <p:nvPr/>
        </p:nvSpPr>
        <p:spPr>
          <a:xfrm>
            <a:off x="8434548" y="800715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DA074FB-A905-A7AC-D154-EE371BE3AB58}"/>
              </a:ext>
            </a:extLst>
          </p:cNvPr>
          <p:cNvSpPr/>
          <p:nvPr/>
        </p:nvSpPr>
        <p:spPr>
          <a:xfrm>
            <a:off x="7325355" y="800715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EBBF04A-E243-F658-3089-DF9E1F2092B2}"/>
              </a:ext>
            </a:extLst>
          </p:cNvPr>
          <p:cNvSpPr/>
          <p:nvPr/>
        </p:nvSpPr>
        <p:spPr>
          <a:xfrm>
            <a:off x="10561955" y="819715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목록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42ECB7-0611-E758-EA52-2468C5A770A3}"/>
              </a:ext>
            </a:extLst>
          </p:cNvPr>
          <p:cNvSpPr/>
          <p:nvPr/>
        </p:nvSpPr>
        <p:spPr>
          <a:xfrm>
            <a:off x="9507670" y="800715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인쇄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71389B8-7076-790A-9242-50E2C7EA7F40}"/>
              </a:ext>
            </a:extLst>
          </p:cNvPr>
          <p:cNvSpPr/>
          <p:nvPr/>
        </p:nvSpPr>
        <p:spPr>
          <a:xfrm>
            <a:off x="10792710" y="5631379"/>
            <a:ext cx="744912" cy="5467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달력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96F89B-A0E4-31BE-1DEC-5ACEE3B10372}"/>
              </a:ext>
            </a:extLst>
          </p:cNvPr>
          <p:cNvSpPr txBox="1"/>
          <p:nvPr/>
        </p:nvSpPr>
        <p:spPr>
          <a:xfrm>
            <a:off x="4777863" y="6400801"/>
            <a:ext cx="346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모든 입력항목 필수</a:t>
            </a:r>
            <a:r>
              <a:rPr lang="en-US" altLang="ko-KR" dirty="0"/>
              <a:t>(QR</a:t>
            </a:r>
            <a:r>
              <a:rPr lang="ko-KR" altLang="en-US" dirty="0"/>
              <a:t>제외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3085013-9176-145F-90DE-A536A0E83064}"/>
              </a:ext>
            </a:extLst>
          </p:cNvPr>
          <p:cNvSpPr/>
          <p:nvPr/>
        </p:nvSpPr>
        <p:spPr>
          <a:xfrm>
            <a:off x="6591320" y="4920811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자료 분류</a:t>
            </a: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02D8FDA9-3C7A-6E47-4571-8E9E4612796B}"/>
              </a:ext>
            </a:extLst>
          </p:cNvPr>
          <p:cNvSpPr/>
          <p:nvPr/>
        </p:nvSpPr>
        <p:spPr>
          <a:xfrm rot="10800000">
            <a:off x="11165166" y="5084649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1449DA7-6A1F-EFCB-46B6-A0D109CF03FB}"/>
              </a:ext>
            </a:extLst>
          </p:cNvPr>
          <p:cNvSpPr/>
          <p:nvPr/>
        </p:nvSpPr>
        <p:spPr>
          <a:xfrm>
            <a:off x="7232904" y="741038"/>
            <a:ext cx="2224564" cy="546755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C7C449-48ED-D13C-27AC-A145A5C8C0D8}"/>
              </a:ext>
            </a:extLst>
          </p:cNvPr>
          <p:cNvSpPr/>
          <p:nvPr/>
        </p:nvSpPr>
        <p:spPr>
          <a:xfrm>
            <a:off x="2932522" y="5636345"/>
            <a:ext cx="2973740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예배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설교</a:t>
            </a:r>
            <a:r>
              <a:rPr lang="en-US" altLang="ko-KR" dirty="0">
                <a:solidFill>
                  <a:schemeClr val="tx1"/>
                </a:solidFill>
              </a:rPr>
              <a:t>(Select Box)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B4713D81-96D7-8122-F214-46FD8DE9199B}"/>
              </a:ext>
            </a:extLst>
          </p:cNvPr>
          <p:cNvSpPr/>
          <p:nvPr/>
        </p:nvSpPr>
        <p:spPr>
          <a:xfrm rot="10800000">
            <a:off x="5628810" y="5795217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FC62C0A-D56D-1527-E009-B382F775D247}"/>
              </a:ext>
            </a:extLst>
          </p:cNvPr>
          <p:cNvSpPr/>
          <p:nvPr/>
        </p:nvSpPr>
        <p:spPr>
          <a:xfrm>
            <a:off x="8562309" y="4920809"/>
            <a:ext cx="2973740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문서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출판물</a:t>
            </a:r>
            <a:r>
              <a:rPr lang="en-US" altLang="ko-KR" dirty="0">
                <a:solidFill>
                  <a:schemeClr val="tx1"/>
                </a:solidFill>
              </a:rPr>
              <a:t>(Select Box)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5A7DB366-7354-9D69-7152-4FC84BA8A870}"/>
              </a:ext>
            </a:extLst>
          </p:cNvPr>
          <p:cNvSpPr/>
          <p:nvPr/>
        </p:nvSpPr>
        <p:spPr>
          <a:xfrm rot="10800000">
            <a:off x="11284133" y="5105260"/>
            <a:ext cx="217997" cy="219075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CC011890-8CA3-C42B-F867-A7079A8E8B21}"/>
              </a:ext>
            </a:extLst>
          </p:cNvPr>
          <p:cNvSpPr/>
          <p:nvPr/>
        </p:nvSpPr>
        <p:spPr>
          <a:xfrm>
            <a:off x="4334256" y="5175504"/>
            <a:ext cx="82296" cy="8229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21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80D917-C726-66D6-A5E9-F76036202B5C}"/>
              </a:ext>
            </a:extLst>
          </p:cNvPr>
          <p:cNvSpPr/>
          <p:nvPr/>
        </p:nvSpPr>
        <p:spPr>
          <a:xfrm>
            <a:off x="976956" y="4247427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 키워드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819F83-910F-93BA-C496-39BDF5AABAF3}"/>
              </a:ext>
            </a:extLst>
          </p:cNvPr>
          <p:cNvSpPr/>
          <p:nvPr/>
        </p:nvSpPr>
        <p:spPr>
          <a:xfrm>
            <a:off x="2969724" y="4248068"/>
            <a:ext cx="8584896" cy="5467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Varchar(2048)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CA6D3E6-0255-A801-9EF2-C57213D6825F}"/>
              </a:ext>
            </a:extLst>
          </p:cNvPr>
          <p:cNvSpPr/>
          <p:nvPr/>
        </p:nvSpPr>
        <p:spPr>
          <a:xfrm>
            <a:off x="961534" y="582882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 사진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7B087C0-DC5C-6B43-51E4-1D672653F29F}"/>
              </a:ext>
            </a:extLst>
          </p:cNvPr>
          <p:cNvSpPr/>
          <p:nvPr/>
        </p:nvSpPr>
        <p:spPr>
          <a:xfrm>
            <a:off x="2932523" y="582881"/>
            <a:ext cx="1573076" cy="155638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대표이미지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(1024)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67B63B-7734-9046-3FA0-F0152659F139}"/>
              </a:ext>
            </a:extLst>
          </p:cNvPr>
          <p:cNvSpPr/>
          <p:nvPr/>
        </p:nvSpPr>
        <p:spPr>
          <a:xfrm>
            <a:off x="4635299" y="580822"/>
            <a:ext cx="1127600" cy="5467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04D75-3F12-EA00-1176-92BA4B2953CD}"/>
              </a:ext>
            </a:extLst>
          </p:cNvPr>
          <p:cNvSpPr txBox="1"/>
          <p:nvPr/>
        </p:nvSpPr>
        <p:spPr>
          <a:xfrm>
            <a:off x="5931126" y="2459324"/>
            <a:ext cx="286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( </a:t>
            </a:r>
            <a:r>
              <a:rPr lang="ko-KR" altLang="en-US" dirty="0"/>
              <a:t>첨부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233F22A-AC3E-3132-B392-CEAADF397486}"/>
              </a:ext>
            </a:extLst>
          </p:cNvPr>
          <p:cNvSpPr/>
          <p:nvPr/>
        </p:nvSpPr>
        <p:spPr>
          <a:xfrm>
            <a:off x="980102" y="5122911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 정 자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497D43-354F-04A4-8B4E-54603ACFE5F7}"/>
              </a:ext>
            </a:extLst>
          </p:cNvPr>
          <p:cNvSpPr/>
          <p:nvPr/>
        </p:nvSpPr>
        <p:spPr>
          <a:xfrm>
            <a:off x="2951092" y="5122910"/>
            <a:ext cx="2932520" cy="5467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Varchar(1024)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59BE791-BFFD-00F7-6131-F9C179CBAD80}"/>
              </a:ext>
            </a:extLst>
          </p:cNvPr>
          <p:cNvSpPr/>
          <p:nvPr/>
        </p:nvSpPr>
        <p:spPr>
          <a:xfrm>
            <a:off x="6342382" y="5122911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 일자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D616684-E8F5-029A-DB54-4A3DFB3E0A7A}"/>
              </a:ext>
            </a:extLst>
          </p:cNvPr>
          <p:cNvSpPr/>
          <p:nvPr/>
        </p:nvSpPr>
        <p:spPr>
          <a:xfrm>
            <a:off x="8313372" y="5122910"/>
            <a:ext cx="3241248" cy="5467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yyyy</a:t>
            </a:r>
            <a:r>
              <a:rPr lang="en-US" altLang="ko-KR" dirty="0">
                <a:solidFill>
                  <a:schemeClr val="tx1"/>
                </a:solidFill>
              </a:rPr>
              <a:t>/mm/dd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112A26-BCEA-5C17-82CB-B8A8A0E42A0A}"/>
              </a:ext>
            </a:extLst>
          </p:cNvPr>
          <p:cNvSpPr/>
          <p:nvPr/>
        </p:nvSpPr>
        <p:spPr>
          <a:xfrm>
            <a:off x="961534" y="2345007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첨부 파일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8863F0A-2AA7-0363-12D4-2639F231D6F2}"/>
              </a:ext>
            </a:extLst>
          </p:cNvPr>
          <p:cNvSpPr/>
          <p:nvPr/>
        </p:nvSpPr>
        <p:spPr>
          <a:xfrm>
            <a:off x="2932522" y="2345006"/>
            <a:ext cx="7354167" cy="5467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Varchar(1024)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947032B-4EB2-96E8-915B-BFECE185B86C}"/>
              </a:ext>
            </a:extLst>
          </p:cNvPr>
          <p:cNvSpPr/>
          <p:nvPr/>
        </p:nvSpPr>
        <p:spPr>
          <a:xfrm>
            <a:off x="10410023" y="2345006"/>
            <a:ext cx="1127600" cy="5467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54B91-4D29-AAAE-ADCE-4219CA90348A}"/>
              </a:ext>
            </a:extLst>
          </p:cNvPr>
          <p:cNvSpPr txBox="1"/>
          <p:nvPr/>
        </p:nvSpPr>
        <p:spPr>
          <a:xfrm>
            <a:off x="3076576" y="3042605"/>
            <a:ext cx="6140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( </a:t>
            </a:r>
            <a:r>
              <a:rPr lang="ko-KR" altLang="en-US" dirty="0"/>
              <a:t>첨부파일 최대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, HWP</a:t>
            </a:r>
            <a:r>
              <a:rPr lang="ko-KR" altLang="en-US" dirty="0"/>
              <a:t>문서는 </a:t>
            </a:r>
            <a:r>
              <a:rPr lang="en-US" altLang="ko-KR" dirty="0"/>
              <a:t>PDF</a:t>
            </a:r>
            <a:r>
              <a:rPr lang="ko-KR" altLang="en-US" dirty="0"/>
              <a:t>로 전환하세요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:</a:t>
            </a:r>
          </a:p>
          <a:p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EA4791-63B1-006D-D2D3-BB69488845BD}"/>
              </a:ext>
            </a:extLst>
          </p:cNvPr>
          <p:cNvSpPr txBox="1"/>
          <p:nvPr/>
        </p:nvSpPr>
        <p:spPr>
          <a:xfrm>
            <a:off x="3868285" y="5729697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자동 표기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638F46-E8B9-9195-B13D-C0AC781C48E7}"/>
              </a:ext>
            </a:extLst>
          </p:cNvPr>
          <p:cNvSpPr txBox="1"/>
          <p:nvPr/>
        </p:nvSpPr>
        <p:spPr>
          <a:xfrm>
            <a:off x="9405700" y="5696764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자동 표기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FB963C9-D9B2-C953-9DDB-50B1B9D4752A}"/>
              </a:ext>
            </a:extLst>
          </p:cNvPr>
          <p:cNvSpPr/>
          <p:nvPr/>
        </p:nvSpPr>
        <p:spPr>
          <a:xfrm>
            <a:off x="8493020" y="6205002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1C0FB6B-F63F-C52F-F879-4BA8C97FD6D1}"/>
              </a:ext>
            </a:extLst>
          </p:cNvPr>
          <p:cNvSpPr/>
          <p:nvPr/>
        </p:nvSpPr>
        <p:spPr>
          <a:xfrm>
            <a:off x="7419852" y="6205002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E1EF6EA-CF0F-8C08-4D2C-D82698F83281}"/>
              </a:ext>
            </a:extLst>
          </p:cNvPr>
          <p:cNvSpPr/>
          <p:nvPr/>
        </p:nvSpPr>
        <p:spPr>
          <a:xfrm>
            <a:off x="10620427" y="6224002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목록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03D0F8F-029F-1A80-1930-8270FDEA00BE}"/>
              </a:ext>
            </a:extLst>
          </p:cNvPr>
          <p:cNvSpPr/>
          <p:nvPr/>
        </p:nvSpPr>
        <p:spPr>
          <a:xfrm>
            <a:off x="9566142" y="6205002"/>
            <a:ext cx="974094" cy="446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C9E7CA6-6495-CE09-09D0-3696758B30AA}"/>
              </a:ext>
            </a:extLst>
          </p:cNvPr>
          <p:cNvSpPr/>
          <p:nvPr/>
        </p:nvSpPr>
        <p:spPr>
          <a:xfrm>
            <a:off x="7333488" y="6145325"/>
            <a:ext cx="2182452" cy="546755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0ED7523-56CD-60ED-9D50-AAD3CF95D647}"/>
              </a:ext>
            </a:extLst>
          </p:cNvPr>
          <p:cNvSpPr/>
          <p:nvPr/>
        </p:nvSpPr>
        <p:spPr>
          <a:xfrm>
            <a:off x="6732421" y="582882"/>
            <a:ext cx="1847654" cy="5467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QR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29DFE99-8240-27D6-8011-C1A54113BD74}"/>
              </a:ext>
            </a:extLst>
          </p:cNvPr>
          <p:cNvSpPr/>
          <p:nvPr/>
        </p:nvSpPr>
        <p:spPr>
          <a:xfrm>
            <a:off x="8703410" y="582881"/>
            <a:ext cx="1573076" cy="155638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QR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Varchar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(1024)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31D0EC-CAD4-30FA-2FAE-E43EB4B86B1E}"/>
              </a:ext>
            </a:extLst>
          </p:cNvPr>
          <p:cNvSpPr/>
          <p:nvPr/>
        </p:nvSpPr>
        <p:spPr>
          <a:xfrm>
            <a:off x="10406186" y="580822"/>
            <a:ext cx="1127600" cy="5467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68386-F9C8-C1CD-7651-7330E12789AD}"/>
              </a:ext>
            </a:extLst>
          </p:cNvPr>
          <p:cNvSpPr txBox="1"/>
          <p:nvPr/>
        </p:nvSpPr>
        <p:spPr>
          <a:xfrm>
            <a:off x="7006270" y="1193846"/>
            <a:ext cx="138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 </a:t>
            </a:r>
            <a:r>
              <a:rPr lang="ko-KR" altLang="en-US" dirty="0"/>
              <a:t>기물자료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192C4-44B9-6C89-9247-2D0E3193BFE1}"/>
              </a:ext>
            </a:extLst>
          </p:cNvPr>
          <p:cNvSpPr txBox="1"/>
          <p:nvPr/>
        </p:nvSpPr>
        <p:spPr>
          <a:xfrm>
            <a:off x="3810070" y="6322748"/>
            <a:ext cx="346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모든 입력항목 필수</a:t>
            </a:r>
            <a:r>
              <a:rPr lang="en-US" altLang="ko-KR" dirty="0"/>
              <a:t>(QR</a:t>
            </a:r>
            <a:r>
              <a:rPr lang="ko-KR" altLang="en-US" dirty="0"/>
              <a:t>제외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70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BEF87-862A-77DA-48B9-215A91A9C474}"/>
              </a:ext>
            </a:extLst>
          </p:cNvPr>
          <p:cNvSpPr txBox="1"/>
          <p:nvPr/>
        </p:nvSpPr>
        <p:spPr>
          <a:xfrm>
            <a:off x="989814" y="1036948"/>
            <a:ext cx="1129668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자료분류 코드 </a:t>
            </a:r>
            <a:r>
              <a:rPr lang="en-US" altLang="ko-KR" dirty="0"/>
              <a:t>: </a:t>
            </a:r>
            <a:r>
              <a:rPr lang="ko-KR" altLang="en-US" dirty="0"/>
              <a:t>문서</a:t>
            </a:r>
            <a:r>
              <a:rPr lang="en-US" altLang="ko-KR" dirty="0"/>
              <a:t>-</a:t>
            </a:r>
            <a:r>
              <a:rPr lang="ko-KR" altLang="en-US" dirty="0"/>
              <a:t>출판물</a:t>
            </a:r>
            <a:r>
              <a:rPr lang="en-US" altLang="ko-KR" dirty="0"/>
              <a:t>(0101), </a:t>
            </a:r>
            <a:r>
              <a:rPr lang="ko-KR" altLang="en-US" dirty="0"/>
              <a:t>문서</a:t>
            </a:r>
            <a:r>
              <a:rPr lang="en-US" altLang="ko-KR" dirty="0"/>
              <a:t>-</a:t>
            </a:r>
            <a:r>
              <a:rPr lang="ko-KR" altLang="en-US" dirty="0"/>
              <a:t>종이</a:t>
            </a:r>
            <a:r>
              <a:rPr lang="en-US" altLang="ko-KR" dirty="0"/>
              <a:t>(0102), </a:t>
            </a:r>
            <a:r>
              <a:rPr lang="ko-KR" altLang="en-US" dirty="0"/>
              <a:t>음영</a:t>
            </a:r>
            <a:r>
              <a:rPr lang="en-US" altLang="ko-KR" dirty="0"/>
              <a:t>-</a:t>
            </a:r>
            <a:r>
              <a:rPr lang="ko-KR" altLang="en-US" dirty="0"/>
              <a:t>사진</a:t>
            </a:r>
            <a:r>
              <a:rPr lang="en-US" altLang="ko-KR" dirty="0"/>
              <a:t>(0201), </a:t>
            </a:r>
            <a:r>
              <a:rPr lang="ko-KR" altLang="en-US" dirty="0"/>
              <a:t>음영</a:t>
            </a:r>
            <a:r>
              <a:rPr lang="en-US" altLang="ko-KR" dirty="0"/>
              <a:t>-</a:t>
            </a:r>
            <a:r>
              <a:rPr lang="ko-KR" altLang="en-US" dirty="0"/>
              <a:t>음향</a:t>
            </a:r>
            <a:r>
              <a:rPr lang="en-US" altLang="ko-KR" dirty="0"/>
              <a:t>(0202), </a:t>
            </a:r>
            <a:r>
              <a:rPr lang="ko-KR" altLang="en-US" dirty="0"/>
              <a:t>음영</a:t>
            </a:r>
            <a:r>
              <a:rPr lang="en-US" altLang="ko-KR" dirty="0"/>
              <a:t>-</a:t>
            </a:r>
            <a:r>
              <a:rPr lang="ko-KR" altLang="en-US" dirty="0"/>
              <a:t>영상</a:t>
            </a:r>
            <a:r>
              <a:rPr lang="en-US" altLang="ko-KR" dirty="0"/>
              <a:t>(0203),</a:t>
            </a:r>
          </a:p>
          <a:p>
            <a:r>
              <a:rPr lang="en-US" altLang="ko-KR" dirty="0"/>
              <a:t>                        </a:t>
            </a:r>
            <a:r>
              <a:rPr lang="ko-KR" altLang="en-US" dirty="0"/>
              <a:t>기물</a:t>
            </a:r>
            <a:r>
              <a:rPr lang="en-US" altLang="ko-KR" dirty="0"/>
              <a:t>-</a:t>
            </a:r>
            <a:r>
              <a:rPr lang="ko-KR" altLang="en-US" dirty="0"/>
              <a:t>일반</a:t>
            </a:r>
            <a:r>
              <a:rPr lang="en-US" altLang="ko-KR" dirty="0"/>
              <a:t>(0301), </a:t>
            </a:r>
            <a:r>
              <a:rPr lang="ko-KR" altLang="en-US" dirty="0"/>
              <a:t>기물</a:t>
            </a:r>
            <a:r>
              <a:rPr lang="en-US" altLang="ko-KR" dirty="0"/>
              <a:t>-</a:t>
            </a:r>
            <a:r>
              <a:rPr lang="ko-KR" altLang="en-US" dirty="0"/>
              <a:t>기념물</a:t>
            </a:r>
            <a:r>
              <a:rPr lang="en-US" altLang="ko-KR" dirty="0"/>
              <a:t>(0302), </a:t>
            </a:r>
            <a:r>
              <a:rPr lang="ko-KR" altLang="en-US" dirty="0"/>
              <a:t>기물</a:t>
            </a:r>
            <a:r>
              <a:rPr lang="en-US" altLang="ko-KR" dirty="0"/>
              <a:t>-</a:t>
            </a:r>
            <a:r>
              <a:rPr lang="ko-KR" altLang="en-US" dirty="0"/>
              <a:t>역사물</a:t>
            </a:r>
            <a:r>
              <a:rPr lang="en-US" altLang="ko-KR" dirty="0"/>
              <a:t>(0303), </a:t>
            </a:r>
            <a:r>
              <a:rPr lang="ko-KR" altLang="en-US" dirty="0"/>
              <a:t>기물</a:t>
            </a:r>
            <a:r>
              <a:rPr lang="en-US" altLang="ko-KR" dirty="0"/>
              <a:t>-</a:t>
            </a:r>
            <a:r>
              <a:rPr lang="ko-KR" altLang="en-US" dirty="0"/>
              <a:t>예술품</a:t>
            </a:r>
            <a:r>
              <a:rPr lang="en-US" altLang="ko-KR" dirty="0"/>
              <a:t>(0304)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자료성격 코드</a:t>
            </a:r>
            <a:r>
              <a:rPr lang="en-US" altLang="ko-KR" dirty="0"/>
              <a:t>:  </a:t>
            </a:r>
            <a:r>
              <a:rPr lang="ko-KR" altLang="en-US" dirty="0"/>
              <a:t>일반</a:t>
            </a:r>
            <a:r>
              <a:rPr lang="en-US" altLang="ko-KR" dirty="0"/>
              <a:t>, </a:t>
            </a:r>
            <a:r>
              <a:rPr lang="ko-KR" altLang="en-US" dirty="0"/>
              <a:t>예배</a:t>
            </a:r>
            <a:r>
              <a:rPr lang="en-US" altLang="ko-KR" dirty="0"/>
              <a:t>/</a:t>
            </a:r>
            <a:r>
              <a:rPr lang="ko-KR" altLang="en-US" dirty="0"/>
              <a:t>설교</a:t>
            </a:r>
            <a:r>
              <a:rPr lang="en-US" altLang="ko-KR" dirty="0"/>
              <a:t>, </a:t>
            </a:r>
            <a:r>
              <a:rPr lang="ko-KR" altLang="en-US" dirty="0"/>
              <a:t>교육</a:t>
            </a:r>
            <a:r>
              <a:rPr lang="en-US" altLang="ko-KR" dirty="0"/>
              <a:t>/</a:t>
            </a:r>
            <a:r>
              <a:rPr lang="ko-KR" altLang="en-US" dirty="0"/>
              <a:t>회의</a:t>
            </a:r>
            <a:r>
              <a:rPr lang="en-US" altLang="ko-KR" dirty="0"/>
              <a:t>, </a:t>
            </a:r>
            <a:r>
              <a:rPr lang="ko-KR" altLang="en-US" dirty="0"/>
              <a:t>세미나</a:t>
            </a:r>
            <a:r>
              <a:rPr lang="en-US" altLang="ko-KR" dirty="0"/>
              <a:t>/</a:t>
            </a:r>
            <a:r>
              <a:rPr lang="ko-KR" altLang="en-US" dirty="0"/>
              <a:t>워크샵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공개여부 코드 </a:t>
            </a:r>
            <a:r>
              <a:rPr lang="en-US" altLang="ko-KR" dirty="0"/>
              <a:t>: </a:t>
            </a:r>
            <a:r>
              <a:rPr lang="ko-KR" altLang="en-US" dirty="0"/>
              <a:t>비공개</a:t>
            </a:r>
            <a:r>
              <a:rPr lang="en-US" altLang="ko-KR" dirty="0"/>
              <a:t>, </a:t>
            </a:r>
            <a:r>
              <a:rPr lang="ko-KR" altLang="en-US" dirty="0"/>
              <a:t>공개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모든 문서자료는 </a:t>
            </a:r>
            <a:r>
              <a:rPr lang="en-US" altLang="ko-KR" dirty="0"/>
              <a:t>PDF, PPT, DOC, XLS </a:t>
            </a:r>
            <a:r>
              <a:rPr lang="ko-KR" altLang="en-US" dirty="0"/>
              <a:t>등 국제</a:t>
            </a:r>
            <a:r>
              <a:rPr lang="en-US" altLang="ko-KR" dirty="0"/>
              <a:t> </a:t>
            </a:r>
            <a:r>
              <a:rPr lang="ko-KR" altLang="en-US" dirty="0"/>
              <a:t>표준문서로 변환하여 </a:t>
            </a:r>
            <a:r>
              <a:rPr lang="en-US" altLang="ko-KR" dirty="0"/>
              <a:t>Upload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대한민국의 아래한글</a:t>
            </a:r>
            <a:r>
              <a:rPr lang="en-US" altLang="ko-KR" dirty="0"/>
              <a:t>(HWP)</a:t>
            </a:r>
            <a:r>
              <a:rPr lang="ko-KR" altLang="en-US" dirty="0"/>
              <a:t>문서는 </a:t>
            </a:r>
            <a:r>
              <a:rPr lang="en-US" altLang="ko-KR" dirty="0"/>
              <a:t>Synology NAS</a:t>
            </a:r>
            <a:r>
              <a:rPr lang="ko-KR" altLang="en-US" dirty="0"/>
              <a:t>에서 키워드 색인 불가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로그인은 교회 홈페이지로 통합하고 관리등급도 사무국에서 관리</a:t>
            </a:r>
            <a:r>
              <a:rPr lang="en-US" altLang="ko-KR" dirty="0"/>
              <a:t>(</a:t>
            </a:r>
            <a:r>
              <a:rPr lang="ko-KR" altLang="en-US" dirty="0"/>
              <a:t>동일한 개발</a:t>
            </a:r>
            <a:r>
              <a:rPr lang="en-US" altLang="ko-KR" dirty="0"/>
              <a:t>/</a:t>
            </a:r>
            <a:r>
              <a:rPr lang="ko-KR" altLang="en-US" dirty="0"/>
              <a:t>운영환경</a:t>
            </a:r>
            <a:r>
              <a:rPr lang="en-US" altLang="ko-KR" dirty="0"/>
              <a:t>)</a:t>
            </a:r>
          </a:p>
          <a:p>
            <a:br>
              <a:rPr lang="en-US" altLang="ko-KR" dirty="0"/>
            </a:br>
            <a:r>
              <a:rPr lang="en-US" altLang="ko-KR" dirty="0"/>
              <a:t>    -&gt; </a:t>
            </a:r>
            <a:r>
              <a:rPr lang="ko-KR" altLang="en-US" dirty="0"/>
              <a:t>권한 등급 예시 </a:t>
            </a:r>
            <a:r>
              <a:rPr lang="en-US" altLang="ko-KR" dirty="0"/>
              <a:t>: </a:t>
            </a:r>
            <a:r>
              <a:rPr lang="ko-KR" altLang="en-US" dirty="0"/>
              <a:t>교역자</a:t>
            </a:r>
            <a:r>
              <a:rPr lang="en-US" altLang="ko-KR" dirty="0"/>
              <a:t>, </a:t>
            </a:r>
            <a:r>
              <a:rPr lang="ko-KR" altLang="en-US" dirty="0"/>
              <a:t>장로</a:t>
            </a:r>
            <a:r>
              <a:rPr lang="en-US" altLang="ko-KR" dirty="0"/>
              <a:t>, </a:t>
            </a:r>
            <a:r>
              <a:rPr lang="ko-KR" altLang="en-US" dirty="0"/>
              <a:t>안수집사</a:t>
            </a:r>
            <a:r>
              <a:rPr lang="en-US" altLang="ko-KR" dirty="0"/>
              <a:t>/</a:t>
            </a:r>
            <a:r>
              <a:rPr lang="ko-KR" altLang="en-US" dirty="0"/>
              <a:t>권사</a:t>
            </a:r>
            <a:r>
              <a:rPr lang="en-US" altLang="ko-KR" dirty="0"/>
              <a:t>, </a:t>
            </a:r>
            <a:r>
              <a:rPr lang="ko-KR" altLang="en-US" dirty="0"/>
              <a:t>서리집사</a:t>
            </a:r>
            <a:r>
              <a:rPr lang="en-US" altLang="ko-KR" dirty="0"/>
              <a:t>, </a:t>
            </a:r>
            <a:r>
              <a:rPr lang="ko-KR" altLang="en-US" dirty="0"/>
              <a:t>등록교인</a:t>
            </a:r>
            <a:r>
              <a:rPr lang="en-US" altLang="ko-KR" dirty="0"/>
              <a:t>, </a:t>
            </a:r>
            <a:r>
              <a:rPr lang="ko-KR" altLang="en-US" dirty="0"/>
              <a:t>일반인 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-&gt; Linux, Apache, </a:t>
            </a:r>
            <a:r>
              <a:rPr lang="en-US" altLang="ko-KR" dirty="0" err="1"/>
              <a:t>Mysql</a:t>
            </a:r>
            <a:r>
              <a:rPr lang="en-US" altLang="ko-KR" dirty="0"/>
              <a:t>, Java/</a:t>
            </a:r>
            <a:r>
              <a:rPr lang="en-US" altLang="ko-KR" dirty="0" err="1"/>
              <a:t>php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64251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438</Words>
  <Application>Microsoft Office PowerPoint</Application>
  <PresentationFormat>와이드스크린</PresentationFormat>
  <Paragraphs>105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HY견고딕</vt:lpstr>
      <vt:lpstr>맑은 고딕</vt:lpstr>
      <vt:lpstr>Arial</vt:lpstr>
      <vt:lpstr>Office 테마</vt:lpstr>
      <vt:lpstr>역사자료부 DB자료 이관</vt:lpstr>
      <vt:lpstr>기존 DB자료 등록화면</vt:lpstr>
      <vt:lpstr>목록/검색 화면</vt:lpstr>
      <vt:lpstr>조회/등록/수정 화면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사용자</dc:creator>
  <cp:lastModifiedBy>사용자</cp:lastModifiedBy>
  <cp:revision>45</cp:revision>
  <dcterms:created xsi:type="dcterms:W3CDTF">2025-03-30T12:29:56Z</dcterms:created>
  <dcterms:modified xsi:type="dcterms:W3CDTF">2025-04-16T10:15:56Z</dcterms:modified>
</cp:coreProperties>
</file>